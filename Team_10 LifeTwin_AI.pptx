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058400" cy="7772400"/>
  <p:notesSz cx="7772400" cy="100584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66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48-4453-ACA4-DFC0D107EAF2}"/>
              </c:ext>
            </c:extLst>
          </c:dPt>
          <c:dPt>
            <c:idx val="1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48-4453-ACA4-DFC0D107EAF2}"/>
              </c:ext>
            </c:extLst>
          </c:dPt>
          <c:dPt>
            <c:idx val="2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48-4453-ACA4-DFC0D107EAF2}"/>
              </c:ext>
            </c:extLst>
          </c:dPt>
          <c:dPt>
            <c:idx val="3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348-4453-ACA4-DFC0D107EAF2}"/>
              </c:ext>
            </c:extLst>
          </c:dPt>
          <c:dPt>
            <c:idx val="4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348-4453-ACA4-DFC0D107EAF2}"/>
              </c:ext>
            </c:extLst>
          </c:dPt>
          <c:dPt>
            <c:idx val="5"/>
            <c:invertIfNegative val="0"/>
            <c:bubble3D val="0"/>
            <c:spPr>
              <a:solidFill>
                <a:srgbClr val="1737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348-4453-ACA4-DFC0D107EAF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348-4453-ACA4-DFC0D107EAF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348-4453-ACA4-DFC0D107EAF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348-4453-ACA4-DFC0D107EAF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A348-4453-ACA4-DFC0D107EAF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A348-4453-ACA4-DFC0D107EAF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348-4453-ACA4-DFC0D107EAF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A348-4453-ACA4-DFC0D107EAF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348-4453-ACA4-DFC0D107EAF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A348-4453-ACA4-DFC0D107EAF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social_media_hours</c:v>
                </c:pt>
                <c:pt idx="1">
                  <c:v>notification_interruptions</c:v>
                </c:pt>
                <c:pt idx="2">
                  <c:v>screen_time_hours</c:v>
                </c:pt>
                <c:pt idx="3">
                  <c:v>stress_level</c:v>
                </c:pt>
                <c:pt idx="4">
                  <c:v>caffeine_intake</c:v>
                </c:pt>
                <c:pt idx="5">
                  <c:v>break_minutes</c:v>
                </c:pt>
                <c:pt idx="6">
                  <c:v>study_work_hours</c:v>
                </c:pt>
                <c:pt idx="7">
                  <c:v>exercise_minutes</c:v>
                </c:pt>
                <c:pt idx="8">
                  <c:v>sleep_hours</c:v>
                </c:pt>
                <c:pt idx="9">
                  <c:v>step_count</c:v>
                </c:pt>
                <c:pt idx="10">
                  <c:v>sleep_quality</c:v>
                </c:pt>
                <c:pt idx="11">
                  <c:v>mood_score</c:v>
                </c:pt>
                <c:pt idx="12">
                  <c:v>focus_sessions</c:v>
                </c:pt>
                <c:pt idx="13">
                  <c:v>energy_level</c:v>
                </c:pt>
                <c:pt idx="14">
                  <c:v>wake_time_consistency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-0.49199999999999999</c:v>
                </c:pt>
                <c:pt idx="1">
                  <c:v>-0.48799999999999999</c:v>
                </c:pt>
                <c:pt idx="2">
                  <c:v>-0.36799999999999999</c:v>
                </c:pt>
                <c:pt idx="3">
                  <c:v>-0.314</c:v>
                </c:pt>
                <c:pt idx="4">
                  <c:v>-0.152</c:v>
                </c:pt>
                <c:pt idx="5">
                  <c:v>-8.0000000000000002E-3</c:v>
                </c:pt>
                <c:pt idx="6">
                  <c:v>0.26100000000000001</c:v>
                </c:pt>
                <c:pt idx="7">
                  <c:v>0.371</c:v>
                </c:pt>
                <c:pt idx="8">
                  <c:v>0.38700000000000001</c:v>
                </c:pt>
                <c:pt idx="9">
                  <c:v>0.39300000000000002</c:v>
                </c:pt>
                <c:pt idx="10">
                  <c:v>0.39700000000000002</c:v>
                </c:pt>
                <c:pt idx="11">
                  <c:v>0.44400000000000001</c:v>
                </c:pt>
                <c:pt idx="12">
                  <c:v>0.46100000000000002</c:v>
                </c:pt>
                <c:pt idx="13">
                  <c:v>0.47099999999999997</c:v>
                </c:pt>
                <c:pt idx="1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348-4453-ACA4-DFC0D107EA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-0.6"/>
        </c:scaling>
        <c:delete val="0"/>
        <c:axPos val="t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924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4A4AECE-081B-C50E-E86D-C26CAA09ADD4}"/>
              </a:ext>
            </a:extLst>
          </p:cNvPr>
          <p:cNvGrpSpPr/>
          <p:nvPr/>
        </p:nvGrpSpPr>
        <p:grpSpPr>
          <a:xfrm>
            <a:off x="593558" y="165663"/>
            <a:ext cx="9341552" cy="6658283"/>
            <a:chOff x="593558" y="175062"/>
            <a:chExt cx="11824176" cy="51878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63F577F-2456-C927-3C4C-704DE99A8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8090" y="175062"/>
              <a:ext cx="7295536" cy="743397"/>
            </a:xfrm>
            <a:prstGeom prst="rect">
              <a:avLst/>
            </a:prstGeom>
          </p:spPr>
        </p:pic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E03CEB-79B6-FB4D-DB3A-0411DD3DD53C}"/>
                </a:ext>
              </a:extLst>
            </p:cNvPr>
            <p:cNvSpPr txBox="1"/>
            <p:nvPr/>
          </p:nvSpPr>
          <p:spPr>
            <a:xfrm>
              <a:off x="593558" y="2586786"/>
              <a:ext cx="11824176" cy="1018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sz="2800" b="1" dirty="0" err="1">
                  <a:latin typeface="Times New Roman"/>
                </a:rPr>
                <a:t>LifeTwin</a:t>
              </a:r>
              <a:r>
                <a:rPr sz="2800" b="1" dirty="0">
                  <a:latin typeface="Times New Roman"/>
                </a:rPr>
                <a:t> : A Personal Behavioral Intelligence and </a:t>
              </a:r>
              <a:r>
                <a:rPr sz="2800" b="1" dirty="0" err="1">
                  <a:latin typeface="Times New Roman"/>
                </a:rPr>
                <a:t>WhatIf</a:t>
              </a:r>
              <a:r>
                <a:rPr sz="2800" b="1" dirty="0">
                  <a:latin typeface="Times New Roman"/>
                </a:rPr>
                <a:t> Productivity Prediction System</a:t>
              </a:r>
            </a:p>
          </p:txBody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86038F23-0A31-0697-859A-A5EAC38B7F4F}"/>
                </a:ext>
              </a:extLst>
            </p:cNvPr>
            <p:cNvSpPr txBox="1"/>
            <p:nvPr/>
          </p:nvSpPr>
          <p:spPr>
            <a:xfrm>
              <a:off x="2806011" y="4027298"/>
              <a:ext cx="60960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800" b="1" dirty="0">
                  <a:latin typeface="Times New Roman"/>
                </a:rPr>
                <a:t>Presented by</a:t>
              </a:r>
              <a:endParaRPr lang="en-IN" sz="1800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4EC3618B-FB76-9EE7-99A9-1714D5DD5747}"/>
                </a:ext>
              </a:extLst>
            </p:cNvPr>
            <p:cNvSpPr txBox="1"/>
            <p:nvPr/>
          </p:nvSpPr>
          <p:spPr>
            <a:xfrm>
              <a:off x="2589703" y="1077513"/>
              <a:ext cx="6990734" cy="7433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 spc="-1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/>
                  <a:cs typeface="Times New Roman" panose="02020603050405020304" pitchFamily="18" charset="0"/>
                </a:rPr>
                <a:t>Department of Artificial Intelligence and Machine Learning</a:t>
              </a:r>
              <a:endParaRPr lang="en-US"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75E14A23-05C2-D913-FC0C-EF05A57446C8}"/>
                </a:ext>
              </a:extLst>
            </p:cNvPr>
            <p:cNvSpPr txBox="1"/>
            <p:nvPr/>
          </p:nvSpPr>
          <p:spPr>
            <a:xfrm>
              <a:off x="2806011" y="2056599"/>
              <a:ext cx="6096001" cy="515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sz="2800" b="1" dirty="0">
                  <a:latin typeface="Times New Roman"/>
                </a:rPr>
                <a:t>Batch No : 10</a:t>
              </a:r>
              <a:endParaRPr sz="2800" b="1" dirty="0">
                <a:latin typeface="Times New Roman"/>
              </a:endParaRP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7D89970D-7284-0850-4453-168ECB89184B}"/>
                </a:ext>
              </a:extLst>
            </p:cNvPr>
            <p:cNvSpPr txBox="1"/>
            <p:nvPr/>
          </p:nvSpPr>
          <p:spPr>
            <a:xfrm>
              <a:off x="3639132" y="4427646"/>
              <a:ext cx="6408112" cy="935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dirty="0" err="1"/>
                <a:t>Rokhiya</a:t>
              </a:r>
              <a:r>
                <a:rPr dirty="0"/>
                <a:t> Begum        24B11AI371</a:t>
              </a:r>
              <a:br>
                <a:rPr dirty="0"/>
              </a:br>
              <a:r>
                <a:rPr dirty="0"/>
                <a:t>Lalitha Mahalakshmi   24B11AI216</a:t>
              </a:r>
              <a:br>
                <a:rPr dirty="0"/>
              </a:br>
              <a:r>
                <a:rPr dirty="0"/>
                <a:t>Bhadra Lasya           24B11AI335</a:t>
              </a:r>
              <a:br>
                <a:rPr dirty="0"/>
              </a:br>
              <a:r>
                <a:rPr dirty="0"/>
                <a:t>Tapasya Valli           24B11AI313</a:t>
              </a:r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59F3D011-1EC6-E2F4-8E4F-608ABA6699C0}"/>
                </a:ext>
              </a:extLst>
            </p:cNvPr>
            <p:cNvSpPr txBox="1"/>
            <p:nvPr/>
          </p:nvSpPr>
          <p:spPr>
            <a:xfrm>
              <a:off x="2806011" y="1769386"/>
              <a:ext cx="6096001" cy="3597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2400" b="1" dirty="0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FINAL  REVIEW</a:t>
              </a:r>
              <a:endParaRPr lang="en-IN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9">
              <a:extLst>
                <a:ext uri="{FF2B5EF4-FFF2-40B4-BE49-F238E27FC236}">
                  <a16:creationId xmlns:a16="http://schemas.microsoft.com/office/drawing/2014/main" id="{3D3CC4B7-E899-C452-BAD5-32B4317478B0}"/>
                </a:ext>
              </a:extLst>
            </p:cNvPr>
            <p:cNvSpPr txBox="1"/>
            <p:nvPr/>
          </p:nvSpPr>
          <p:spPr>
            <a:xfrm>
              <a:off x="2098090" y="3636574"/>
              <a:ext cx="8189104" cy="3597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 b="1" dirty="0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MACHINE LEARNING PROJECT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23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Outline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41248" y="137160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4124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66360" y="12344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276088" y="137160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27608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33288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19659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41248" y="210312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124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1965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166360" y="19659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276088" y="210312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27608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33288" y="1965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Data Preparation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31520" y="26974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41248" y="283464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84124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98448" y="2697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&amp; EDA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166360" y="26974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276088" y="283464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527608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733288" y="2697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Model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31520" y="342900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841248" y="356616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84124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298448" y="3429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Model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166360" y="342900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276088" y="356616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527608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733288" y="3429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K-Means, PCA &amp; Similar-Day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731520" y="416052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841248" y="429768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841248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298448" y="4160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 Simulator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5166360" y="416052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5276088" y="429768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5276088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733288" y="4160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731520" y="48920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841248" y="502920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 txBox="1"/>
          <p:nvPr/>
        </p:nvSpPr>
        <p:spPr>
          <a:xfrm>
            <a:off x="841248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1298448" y="4892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Flow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5166360" y="48920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5276088" y="502920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 txBox="1"/>
          <p:nvPr/>
        </p:nvSpPr>
        <p:spPr>
          <a:xfrm>
            <a:off x="5276088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5733288" y="4892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Modules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731520" y="56235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841248" y="576072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 txBox="1"/>
          <p:nvPr/>
        </p:nvSpPr>
        <p:spPr>
          <a:xfrm>
            <a:off x="841248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1298448" y="5623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 &amp; Persistence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5166360" y="56235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5276088" y="576072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 txBox="1"/>
          <p:nvPr/>
        </p:nvSpPr>
        <p:spPr>
          <a:xfrm>
            <a:off x="5276088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5733288" y="5623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Current Progress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731520" y="63550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841248" y="6492240"/>
            <a:ext cx="329184" cy="329184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 txBox="1"/>
          <p:nvPr/>
        </p:nvSpPr>
        <p:spPr>
          <a:xfrm>
            <a:off x="841248" y="6492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1298448" y="6355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Limitations, Future Work &amp; Conclusion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34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behavior is tracked, but rarely understood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595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Sleep, focus, screen time, activity, stress, mood and routine are usually recorded separately.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user can see what happened on a day, but not the wider pattern behind it.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hard to know which past days looked similar, and how those days turned out.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cannot easily test how a changed habit (for example more sleep) would shift the expected productivity.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tools give the same output to everyone and do not use personal history as it grows.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Therefore, there is a need for one system that predicts, explains, compares and gradually personalizes.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70866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LifeTwin combines established ML methods into one workflow; the individual algorithms are not claimed to be novel.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Existing Systems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71600"/>
            <a:ext cx="8595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Habit trackers log behavior but do not estimate productivity.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dashboards show past totals, not recurring behavioral profiles.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retrieval of similar earlier days for comparison.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safe way to ask "what if I changed this input?".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model for every user, regardless of personal history.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Predictions are often presented as certain, without stating they are estimates.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behavioral signals are not combined into one workflow.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31520" y="576072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914400" y="5760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addressed by LifeTwin: prediction + classification + behavioral profile + similar days + What-If + staged personalization in a single application.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LifeTwin AI</a:t>
            </a: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machine-learning-based personal behavioral intelligence system. It analyses daily behavior, estimates a productivity score, classifies the day, discovers behavior profiles, retrieves similar days and compares What-If scenarios.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572768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31520" y="2258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3152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2402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input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715768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behavioral + 2 context features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249424" y="281178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441448" y="2148840"/>
            <a:ext cx="1572768" cy="1508760"/>
          </a:xfrm>
          <a:prstGeom prst="roundRect">
            <a:avLst>
              <a:gd name="adj" fmla="val 606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532888" y="2258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2532888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916936" y="22402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551176" y="2715768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score and SVM class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50792" y="281178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242816" y="2148840"/>
            <a:ext cx="1572768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334256" y="2258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4334256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18304" y="22402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 profile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352544" y="2715768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cluster and PCA position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52160" y="281178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044184" y="2148840"/>
            <a:ext cx="1572768" cy="1508760"/>
          </a:xfrm>
          <a:prstGeom prst="roundRect">
            <a:avLst>
              <a:gd name="adj" fmla="val 606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135624" y="2258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6135624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519672" y="22402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 days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153912" y="2715768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Closest past days by distance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653528" y="281178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845552" y="2148840"/>
            <a:ext cx="1572768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7936992" y="2258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7936992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22402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7955280" y="2715768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vs modified estimate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kinds of intelligence in one system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40080" y="457200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749808" y="46634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prediction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68096" y="507492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productivity score and productive / non-productive class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120640" y="457200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 txBox="1"/>
          <p:nvPr/>
        </p:nvSpPr>
        <p:spPr>
          <a:xfrm>
            <a:off x="5230368" y="46634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history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248656" y="507492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inputs, predictions and later-reported actual productivity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0080" y="571500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749808" y="58064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intelligence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8096" y="621792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profile, PCA view and similar-day retrieval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120640" y="571500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5230368" y="58064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exploration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248656" y="621792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inputs and compare model estimates (not causal claims)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6949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working local Streamlit application; the data is synthetic, so results are prototype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 and where they stand now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8778240" cy="4773168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Objective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Prepare and audit a longitudinal behavioral dataset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10,000 rows, 250 users, audited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Explore relationships between behavior and productivity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correlations, VIF, distributions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 continuous productivity score (regression)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Random Forest, test R² 0.655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Classify productive / non-productive days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SVM, test accuracy 86.3%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Discover profiles (K-Means) and visualise (PCA)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3 profiles, 2D PCA view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Retrieve behaviorally similar days (kNN)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 in notebook; personal engine in 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 baseline vs modified predictions (What-If)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Done: tested and in the 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Staged personalization and Streamlit 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Working locally; UI refinement pending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6751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reflects the current prototype. Estimates are model outputs on synthetic data, not real-world guarantees.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77824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 Case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Daily productivity estimate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Students / professionals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Estimate today’s score from daily habits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Habit pattern discovery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Individuals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See which behavioral profile a day belongs to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 with past days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Returning users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Find similar days and how they turned out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Habit experiments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Individuals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sleep, screen or stress changes with What-If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Long-term self-tracking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Returning users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Record actual outcomes and get personalized adjustment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 in the implementation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8778240" cy="47731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Layer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Used for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Python 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notebooks and application code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processing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Pandas, NumPy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Audit, cleaning, feature handling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 learning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scikit-learn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Forest, SVM, K-Means, PCA, NearestNeighbors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Preprocessing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SimpleImputer, OneHotEncoder, StandardScaler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Training-fitted, reused at inference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storage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Pickle / joblib (.pkl)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Load saved models without retraining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Streamlit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Five-module dashboard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Database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SQLite (lifetwin.db)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Daily records and actual-productivity feedback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Jupyter notebooks (01–06)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understanding to What-If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Data Preparation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4206240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Property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Rows × columns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10,000 × 20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Users / records per user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250 users / 40 each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Date range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2026-02-01 to 2026-07-20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productivity_score (0 to 94.3; mean 47.88)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Duplicates / missing target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/ 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missing cells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6,029 (behavioral inputs)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43000"/>
          <a:ext cx="438912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group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Columns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Behavioral (15)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sleep, focus, screen, social, steps, stress, mood, energy ...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Context (2)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age_group, day_of_week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History metadata (2)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user_id, record_date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 (1)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productivity_score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008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checks performed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640080" y="5303520"/>
            <a:ext cx="2023110" cy="1097280"/>
          </a:xfrm>
          <a:prstGeom prst="roundRect">
            <a:avLst>
              <a:gd name="adj" fmla="val 8333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731520" y="5413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 txBox="1"/>
          <p:nvPr/>
        </p:nvSpPr>
        <p:spPr>
          <a:xfrm>
            <a:off x="73152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115568" y="539496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 &amp; types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749808" y="5870448"/>
            <a:ext cx="1803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Schema, ranges, summary stats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699766" y="57607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2891790" y="5303520"/>
            <a:ext cx="2023110" cy="1097280"/>
          </a:xfrm>
          <a:prstGeom prst="roundRect">
            <a:avLst>
              <a:gd name="adj" fmla="val 8333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2983230" y="5413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 txBox="1"/>
          <p:nvPr/>
        </p:nvSpPr>
        <p:spPr>
          <a:xfrm>
            <a:off x="298323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367278" y="539496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&amp; duplicates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3001518" y="5870448"/>
            <a:ext cx="1803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duplicates found</a:t>
            </a:r>
            <a:endParaRPr lang="en-US" sz="1100" dirty="0"/>
          </a:p>
        </p:txBody>
      </p:sp>
      <p:sp>
        <p:nvSpPr>
          <p:cNvPr id="6" name="Shape 14"/>
          <p:cNvSpPr/>
          <p:nvPr/>
        </p:nvSpPr>
        <p:spPr>
          <a:xfrm>
            <a:off x="4951476" y="57607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143500" y="5303520"/>
            <a:ext cx="2023110" cy="1097280"/>
          </a:xfrm>
          <a:prstGeom prst="roundRect">
            <a:avLst>
              <a:gd name="adj" fmla="val 8333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234940" y="5413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523494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618988" y="539496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checks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253228" y="5870448"/>
            <a:ext cx="1803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weekday mismatches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203186" y="57607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395210" y="5303520"/>
            <a:ext cx="2023110" cy="1097280"/>
          </a:xfrm>
          <a:prstGeom prst="roundRect">
            <a:avLst>
              <a:gd name="adj" fmla="val 8333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7486650" y="5413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748665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7870698" y="539496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rule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7504938" y="5870448"/>
            <a:ext cx="1803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≤ screen time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" y="6949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data: simulated for development and demonstration, not a real survey or population sample.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2527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2344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User-level split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709928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val / test by user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49424" y="17602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41448" y="1143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532888" y="12527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53288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16936" y="12344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Median imputation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551176" y="1709928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Fitted on training only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050792" y="17602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242816" y="1143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334256" y="12527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4334256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18304" y="12344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One-hot encoding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352544" y="1709928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age_group, day_of_week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0" y="17602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044184" y="1143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135624" y="12527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6135624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519672" y="12344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scaling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153912" y="1709928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numeric features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653528" y="1760220"/>
            <a:ext cx="15544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845552" y="114300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7936992" y="12527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7936992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12344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input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1709928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features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User-level split (no user in more than one set)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74720"/>
          <a:ext cx="4023360" cy="2057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Split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Rows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7,000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1,480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1,520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10,000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 32"/>
          <p:cNvSpPr txBox="1"/>
          <p:nvPr/>
        </p:nvSpPr>
        <p:spPr>
          <a:xfrm>
            <a:off x="502920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each technique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5029200" y="35204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Median: robust to skew; keeps all rows.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split: avoids leakage from repeated daily records.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One-hot: no invented order between categories.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Scaler: needed for SVM, K-Means, PCA, kNN.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Fitted only on training data, then reused for validation, test and the app.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67665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X_train 7,000×25, X_validation 1,480×25, X_test 1,520×25 (15 scaled numeric + 10 encoded columns).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of each behavior with productivity_score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539496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217920" y="1417320"/>
            <a:ext cx="3200400" cy="5212080"/>
          </a:xfrm>
          <a:prstGeom prst="roundRect">
            <a:avLst>
              <a:gd name="adj" fmla="val 2857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40080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2011680"/>
            <a:ext cx="2834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Orange = positive, navy = negative association.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Wake-time consistency, energy, focus and mood rise with productivity.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media and notifications show the strongest negative links.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vs steps r ≈ 0.78; screen vs social r ≈ 0.60.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Largest VIF ≈ 2.74 (step_count), so all 15 features were kept.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69951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correlations in synthetic data; they are not causal effects.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Score Prediction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Regression: model comparison (validation / GroupKFold by user)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877824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baseline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 MAE 14.76; R² −0.008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Reference point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 MAE 8.71; R² 0.620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benchmark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(300 trees)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 MAE 8.26; R² 0.646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Captures non-linearity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(500 trees)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CV MAE 8.00; R² 0.681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Selected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1148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64008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8.64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MAE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862072" y="41148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2862072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2862072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RMSE</a:t>
            </a:r>
            <a:endParaRPr lang="en-US" sz="1200" dirty="0"/>
          </a:p>
        </p:txBody>
      </p:sp>
      <p:sp>
        <p:nvSpPr>
          <p:cNvPr id="6" name="Shape 9"/>
          <p:cNvSpPr/>
          <p:nvPr/>
        </p:nvSpPr>
        <p:spPr>
          <a:xfrm>
            <a:off x="5084064" y="41148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5084064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0.655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5084064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06056" y="41148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7306056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7306056" y="4754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54864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used: MAE, MSE, RMSE and R²; productivity_score is never an input.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as best_regressor.pkl and loaded by the application.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test metrics on synthetic data are not a guarantee of real-world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Classification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</a:t>
            </a:r>
            <a:r>
              <a:rPr lang="en-US" sz="13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≥ 49.8 (training-set median) → productive; below 49.8 → non-productive.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8778240" cy="18288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CV accuracy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CV F1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CV ROC-AUC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0.841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(selected)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0.837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0.921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SVM on the held-out test set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384048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0.825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0.828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ROC-AUC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29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(test)</a:t>
            </a:r>
            <a:endParaRPr lang="en-US" sz="15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4069080"/>
          <a:ext cx="438912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\ Predicted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Non-productive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Productive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Non-productive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Productive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as best_classifier.pkl. SVC(probability=True) may warn in newer scikit-learn; a calibrated SVC can be tested later.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Intelligence: K-Means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Clustering uses only the 15 standardized behavioral features (no productivity score, user_id, date or context). K = 2 to 10 were inspected with the elbow and silhouette methods; K = 3 was chosen for interpretable, reasonably sized profiles.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877824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Cluster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Size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Profile (post-hoc interpretation)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 High Work / High Stress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3,880 (38.8%)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study/work hours and stress; lower sleep and energy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 Balanced / Active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3,347 (33.5%)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Better sleep, more exercise and steps; less screen/social use; higher mood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 High Screen / Social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2,773 (27.7%)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screen, social media and interruptions; fewer focus sessions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577840"/>
            <a:ext cx="8778240" cy="1005840"/>
          </a:xfrm>
          <a:prstGeom prst="roundRect">
            <a:avLst>
              <a:gd name="adj" fmla="val 909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22960" y="5577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note: K = 2 had a slightly higher silhouette (≈0.178) than K = 3 (≈0.170). K = 3 was a multi-criterion choice, not the silhouette optimum. Profile names are interpretations, not ground-truth labels.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 &amp; Similar-Day Retrieval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4297680" cy="5303520"/>
          </a:xfrm>
          <a:prstGeom prst="roundRect">
            <a:avLst>
              <a:gd name="adj" fmla="val 2128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 (visualization)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28.7%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PC1 variance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14.2%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PC2 variance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42.95%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two together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632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standardized features reduced to 2 components for a 2D view.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components keep about 93.22% of variance.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 shows the current day’s PCA position.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 supports visualization; it does not predict productivity.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4297680" cy="5303520"/>
          </a:xfrm>
          <a:prstGeom prst="roundRect">
            <a:avLst>
              <a:gd name="adj" fmla="val 2128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30352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Similar-Day kNN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182880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NearestNeighbors on scaled behavioral features, Euclidean distance, 6 neighbors (includes the query).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query day is excluded; the closest 5 days are returned.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is shown after retrieval and is not part of the distance.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Test: query row 0 (U094) returned days at distances ≈ 2.05 to 2.44.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app, a personal engine searches the user’s own completed days.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 Simulator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sequence: select a record → apply allowed changes → transform both rows with the saved preprocessing → predict both with the saved regressor → scenario minus baseline.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877824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change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Scenario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Change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variable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sleep_hours 3.0 → 7.5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23.52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41.81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+18.29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 variable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sleep 7.5, exercise 30, screen 6.0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23.52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42.59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+19.07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Invalid input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sleep_hours = 25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Rejected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ValueError message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Safeguards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8920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Range validation for every behavioral input.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saved models; nothing is retrained.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 shows baseline, modified score, difference and a comparison table.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120640" y="448056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5303520" y="448056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boundary: the output is a model-estimated association under modified inputs. It does not prove that the same change will cause the same improvement in real life.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Layered architecture of the working application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2296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app.py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554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modules: Overview, Productivity, Behavioral Intelligence, What-If Lab, My Journey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2267712"/>
            <a:ext cx="274320" cy="155448"/>
          </a:xfrm>
          <a:prstGeom prst="down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0080" y="242316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8229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src/inference.py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423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Loads saved scaler, encoder, regressor and classifier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92040" y="3136392"/>
            <a:ext cx="274320" cy="155448"/>
          </a:xfrm>
          <a:prstGeom prst="down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40080" y="329184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82296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37744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behavioral_profile.py, pca_visualization.py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2918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profile and PCA coordinates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92040" y="4005072"/>
            <a:ext cx="274320" cy="155448"/>
          </a:xfrm>
          <a:prstGeom prst="down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40080" y="416052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822960" y="4160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377440" y="4160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personalization.py, similar_days.py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4160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logic, shrunk bias, personal similar days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4873752"/>
            <a:ext cx="274320" cy="155448"/>
          </a:xfrm>
          <a:prstGeom prst="down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40080" y="502920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822960" y="5029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77440" y="5029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database.py + lifetwin.db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0" y="5029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daily records and actual productivity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892040" y="5742432"/>
            <a:ext cx="274320" cy="155448"/>
          </a:xfrm>
          <a:prstGeom prst="down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640080" y="5897880"/>
            <a:ext cx="8778240" cy="731520"/>
          </a:xfrm>
          <a:prstGeom prst="roundRect">
            <a:avLst>
              <a:gd name="adj" fmla="val 12500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822960" y="5897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377440" y="5897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models/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0" y="5897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Pre-fitted preprocessing, regression, classification, behavioral .pkl files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Flow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325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input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8013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numeric + 2 categorical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65476" y="17373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903220" y="12344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99466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99466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78708" y="1325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numbers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012948" y="18013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StandardScaler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28616" y="17373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166360" y="12344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25780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25780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41848" y="1325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 categories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276088" y="18013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OneHotEncoder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91756" y="17373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429500" y="12344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52094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75209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904988" y="13258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539228" y="18013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order as training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28346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7315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" y="29260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score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749808" y="34015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regressor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665476" y="33375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2903220" y="28346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2994660" y="29443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 txBox="1"/>
          <p:nvPr/>
        </p:nvSpPr>
        <p:spPr>
          <a:xfrm>
            <a:off x="299466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378708" y="29260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day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3012948" y="34015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SVM, class 0 or 1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928616" y="33375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5166360" y="28346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5257800" y="29443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 txBox="1"/>
          <p:nvPr/>
        </p:nvSpPr>
        <p:spPr>
          <a:xfrm>
            <a:off x="52578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41848" y="29260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Profile &amp; PCA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5276088" y="34015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label, 2D point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191756" y="33375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7429500" y="28346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7520940" y="29443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 txBox="1"/>
          <p:nvPr/>
        </p:nvSpPr>
        <p:spPr>
          <a:xfrm>
            <a:off x="752094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7904988" y="29260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record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7539228" y="34015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SQLite, one row per date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40080" y="44348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731520" y="4544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 txBox="1"/>
          <p:nvPr/>
        </p:nvSpPr>
        <p:spPr>
          <a:xfrm>
            <a:off x="73152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1115568" y="45262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</a:t>
            </a:r>
            <a:endParaRPr lang="en-US" sz="1250" dirty="0"/>
          </a:p>
        </p:txBody>
      </p:sp>
      <p:sp>
        <p:nvSpPr>
          <p:cNvPr id="55" name="Text 52"/>
          <p:cNvSpPr txBox="1"/>
          <p:nvPr/>
        </p:nvSpPr>
        <p:spPr>
          <a:xfrm>
            <a:off x="749808" y="50017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Modify and re-predict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2665476" y="49377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2903220" y="44348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2994660" y="4544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 txBox="1"/>
          <p:nvPr/>
        </p:nvSpPr>
        <p:spPr>
          <a:xfrm>
            <a:off x="29946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3378708" y="45262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actual</a:t>
            </a:r>
            <a:endParaRPr lang="en-US" sz="1250" dirty="0"/>
          </a:p>
        </p:txBody>
      </p:sp>
      <p:sp>
        <p:nvSpPr>
          <p:cNvPr id="61" name="Text 58"/>
          <p:cNvSpPr txBox="1"/>
          <p:nvPr/>
        </p:nvSpPr>
        <p:spPr>
          <a:xfrm>
            <a:off x="3012948" y="50017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for past dates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4928616" y="49377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5166360" y="44348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5257800" y="4544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 txBox="1"/>
          <p:nvPr/>
        </p:nvSpPr>
        <p:spPr>
          <a:xfrm>
            <a:off x="525780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5641848" y="45262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</a:t>
            </a:r>
            <a:endParaRPr lang="en-US" sz="1250" dirty="0"/>
          </a:p>
        </p:txBody>
      </p:sp>
      <p:sp>
        <p:nvSpPr>
          <p:cNvPr id="67" name="Text 64"/>
          <p:cNvSpPr txBox="1"/>
          <p:nvPr/>
        </p:nvSpPr>
        <p:spPr>
          <a:xfrm>
            <a:off x="5276088" y="50017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7 completed days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7191756" y="4937760"/>
            <a:ext cx="201168" cy="182880"/>
          </a:xfrm>
          <a:prstGeom prst="rightArrow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6"/>
          <p:cNvSpPr/>
          <p:nvPr/>
        </p:nvSpPr>
        <p:spPr>
          <a:xfrm>
            <a:off x="7429500" y="4434840"/>
            <a:ext cx="198882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>
            <a:off x="7520940" y="45445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8"/>
          <p:cNvSpPr txBox="1"/>
          <p:nvPr/>
        </p:nvSpPr>
        <p:spPr>
          <a:xfrm>
            <a:off x="75209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7904988" y="4526280"/>
            <a:ext cx="1440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 days</a:t>
            </a:r>
            <a:endParaRPr lang="en-US" sz="1250" dirty="0"/>
          </a:p>
        </p:txBody>
      </p:sp>
      <p:sp>
        <p:nvSpPr>
          <p:cNvPr id="73" name="Text 70"/>
          <p:cNvSpPr txBox="1"/>
          <p:nvPr/>
        </p:nvSpPr>
        <p:spPr>
          <a:xfrm>
            <a:off x="7539228" y="5001768"/>
            <a:ext cx="1769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own completed history</a:t>
            </a:r>
            <a:endParaRPr lang="en-US" sz="1100" dirty="0"/>
          </a:p>
        </p:txBody>
      </p:sp>
      <p:sp>
        <p:nvSpPr>
          <p:cNvPr id="74" name="Text 71"/>
          <p:cNvSpPr txBox="1"/>
          <p:nvPr/>
        </p:nvSpPr>
        <p:spPr>
          <a:xfrm>
            <a:off x="640080" y="67665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Steps 1–8 run for every prediction; steps 9–12 are optional exploration and feedback. Models load once and are never retrained at app start.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Modules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4274820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1737360"/>
            <a:ext cx="40187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summary, class, behavioral profile, personalization stage, short insight, module cards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43500" y="1234440"/>
            <a:ext cx="4274820" cy="1508760"/>
          </a:xfrm>
          <a:prstGeom prst="roundRect">
            <a:avLst>
              <a:gd name="adj" fmla="val 606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23494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2349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0070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71516" y="1737360"/>
            <a:ext cx="40187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17 inputs in six groups: sleep, work, digital, activity, mood, profile; score and class output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4274820" cy="1508760"/>
          </a:xfrm>
          <a:prstGeom prst="roundRect">
            <a:avLst>
              <a:gd name="adj" fmla="val 6061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0815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3152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0632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Intelligence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3474720"/>
            <a:ext cx="40187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profile description and PCA position, with a plain-language axis explanation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143500" y="2971800"/>
            <a:ext cx="4274820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234940" y="30815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23494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00700" y="30632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 Lab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71516" y="3474720"/>
            <a:ext cx="40187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sleep, screen, stress, work, exercise or breaks; baseline vs modified comparison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4709160"/>
            <a:ext cx="4274820" cy="1508760"/>
          </a:xfrm>
          <a:prstGeom prst="roundRect">
            <a:avLst>
              <a:gd name="adj" fmla="val 6061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31520" y="481888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731520" y="4818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480060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Journey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" y="5212080"/>
            <a:ext cx="40187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History, completed days, actual-productivity entry and Similar-Day analysis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Sidebar holds module navigation, User ID control and the recorded-day count.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Progressive Personalization</a:t>
            </a:r>
            <a:endParaRPr lang="en-US" sz="1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877824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 personal days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Behavior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user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Population baseline; no adjustment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1–6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Early history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 context; no bias applied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7–20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Building personal profile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 adjustment becomes active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21–59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Sufficient history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substantial behavioral context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60+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Long-term personal twin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Rich historical context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43484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 txBox="1"/>
          <p:nvPr/>
        </p:nvSpPr>
        <p:spPr>
          <a:xfrm>
            <a:off x="82296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rule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8920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= mean_error × n / (n + 5)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mean_error = actual − predicted over completed days. Shrinking toward zero stops small histories from dominating. Final score is clipped to 0–100.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120640" y="443484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530352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distinction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48920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Recorded days count stored entries; completed days count entries with an actual productivity value. Only completed days feed personalization and Similar-Day. This is staged adjustment, not a fully trained personal model.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/ Backend Architecture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8778240" cy="777240"/>
          </a:xfrm>
          <a:prstGeom prst="roundRect">
            <a:avLst>
              <a:gd name="adj" fmla="val 1176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2296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1887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dashboard (five modules, dark glass theme; light green theme planned)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8778240" cy="777240"/>
          </a:xfrm>
          <a:prstGeom prst="roundRect">
            <a:avLst>
              <a:gd name="adj" fmla="val 1176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2296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layer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1488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inference.py · behavioral_profile.py · pca_visualization.py · personalization.py · similar_days.py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8778240" cy="777240"/>
          </a:xfrm>
          <a:prstGeom prst="roundRect">
            <a:avLst>
              <a:gd name="adj" fmla="val 11765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822960" y="3108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SQLite: lifetwin.db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108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daily_records: user, date, 15+2 features, predicted score, predicted class, nullable actual_productivity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069080"/>
            <a:ext cx="8778240" cy="777240"/>
          </a:xfrm>
          <a:prstGeom prst="roundRect">
            <a:avLst>
              <a:gd name="adj" fmla="val 11765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22960" y="4069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artifacts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0690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models/preprocessing · regression · classification · behavioral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points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4864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prediction for the same user and date updates the row instead of duplicating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Today’s prediction becomes completed history only after actual productivity is entered.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get_completed_history() returns non-null actual values and can exclude the current date.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Validation</a:t>
            </a:r>
            <a:endParaRPr lang="en-US" sz="1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8778240" cy="502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area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Evidence / result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Inference module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Loads saved artifacts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Regression + classification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Score ≈ 46.52; class = 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Streamlit dashboard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Runs at localhost:8501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 manually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Database persistence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Inputs and predictions in history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 manually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Duplicate-date handling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user/date updates one row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 manually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Actual-productivity feedback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Historical date saved (example 60)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 manually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Personalization stages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Cold start, 7, 21 and 60 days checked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Similar-Day engine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neighbors; average 51.33, best 60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What-If workflow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46.52 → 45.91 (−0.61) with table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 manually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6400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are implementation checks, not a complete formal software test suite.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/ Current Progress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23160" y="11887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242316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11887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20624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features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11887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98932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0.655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R²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0" y="118872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777240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86.3%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accuracy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8778240" cy="3291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audit, preprocessing, EDA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10,000 rows; user-level split; 15 features kept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Regression and classification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 R² 0.655; SVM accuracy 0.863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K-Means, PCA, Similar-Day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profiles; 42.95% variance in 2D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What-If, personalization, SQLite 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Five modules run locally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White / green theme, responsive layout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Designed, not yet tested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40080" y="6400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Moved from model building to integration hardening and UI refinement.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173736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 performance is not evidence of real-world performance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43500" y="123444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23494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2349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0070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Within-user accuracy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71516" y="173736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Within-user R² ≈ 0.155 vs overall ≈ 0.65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127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315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10896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 is associative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352044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estimates, not causal effects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143500" y="301752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234940" y="3127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23494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00700" y="310896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Raw-scale distance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71516" y="352044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Similar-Day lets step_count dominate; standardize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480060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31520" y="49103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73152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48920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mismatch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" y="530352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warning on loading artifacts; pin versions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143500" y="480060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5234940" y="49103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523494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00700" y="48920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Irregular dates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271516" y="530352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Median gap about 3 days, so rows are not daily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3152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new theme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173736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and forest-green UI, tested on all five modules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43500" y="123444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234940" y="134416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23494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00700" y="132588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Standardized similar days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71516" y="173736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features so step_count cannot dominate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31520" y="3127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315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10896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charts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352044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What-If comparison and My Journey trends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143500" y="301752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234940" y="312724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23494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00700" y="310896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Responsive layout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71516" y="352044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 KPI truncation on narrow screens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480060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31520" y="49103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73152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48920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Repeatable tests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" y="530352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Missing, invalid and empty-history edge cases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143500" y="4800600"/>
            <a:ext cx="4274820" cy="1554480"/>
          </a:xfrm>
          <a:prstGeom prst="roundRect">
            <a:avLst>
              <a:gd name="adj" fmla="val 5882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5234940" y="491032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523494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00700" y="4892040"/>
            <a:ext cx="37261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271516" y="5303520"/>
            <a:ext cx="40187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 package versions; finalize README and report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71600"/>
            <a:ext cx="8595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LifeTwin AI predicts productivity, classifies the day, discovers behavioral profiles, retrieves similar days and compares What-If scenarios.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(R² 0.655) and SVM (accuracy 86.3%) run from saved artifacts, with no retraining at app start.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 Streamlit app stores records in SQLite and gradually personalizes using the user’s own history.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results are model estimates on synthetic data and are not causal claims.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31520" y="502920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914400" y="5029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 Review progress: </a:t>
            </a:r>
            <a:r>
              <a:rPr lang="en-US" sz="13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ML prototype core is now an integrated local application. Remaining work: apply and test the new theme, run the full regression checklist, standardize Similar-Day distance and finalize documentation.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9768"/>
            <a:ext cx="1161288" cy="420624"/>
          </a:xfrm>
          <a:prstGeom prst="rect">
            <a:avLst/>
          </a:prstGeom>
        </p:spPr>
      </p:pic>
      <p:sp>
        <p:nvSpPr>
          <p:cNvPr id="3" name="TitlePill"/>
          <p:cNvSpPr/>
          <p:nvPr/>
        </p:nvSpPr>
        <p:spPr>
          <a:xfrm>
            <a:off x="2697480" y="320040"/>
            <a:ext cx="4663440" cy="502920"/>
          </a:xfrm>
          <a:prstGeom prst="roundRect">
            <a:avLst>
              <a:gd name="adj" fmla="val 49091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2697480" y="320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900" dirty="0"/>
          </a:p>
        </p:txBody>
      </p:sp>
      <p:pic>
        <p:nvPicPr>
          <p:cNvPr id="5" name="Image 1" descr="tha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65176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286000" y="4480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6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2940</Words>
  <Application>Microsoft Office PowerPoint</Application>
  <PresentationFormat>Custom</PresentationFormat>
  <Paragraphs>615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Rokhiya Begum</cp:lastModifiedBy>
  <cp:revision>1</cp:revision>
  <dcterms:modified xsi:type="dcterms:W3CDTF">2026-10-30T04:44:48Z</dcterms:modified>
</cp:coreProperties>
</file>